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C8C8C"/>
                </a:solidFill>
                <a:latin typeface="Calibri"/>
              </a:rPr>
              <a:t>AGENTICPA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Multi-Agent Prior Authorization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Advisor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9C9D6"/>
                </a:solidFill>
                <a:latin typeface="Calibri"/>
              </a:rPr>
              <a:t>Architecture, Decision Logic, Bias &amp; Fairness, and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C9A"/>
                </a:solidFill>
                <a:latin typeface="Calibri"/>
              </a:rPr>
              <a:t>Internal Technical Overview  •  PA_Advisor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8C8C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libri"/>
              </a:rPr>
              <a:t>What this deck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54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26E"/>
                </a:solidFill>
                <a:latin typeface="Calibri"/>
              </a:rPr>
              <a:t>2/16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What AgenticPA is and the problem it solves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System architecture: stack, state model, LangGraph pipeline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The agent pipeline in detail (Intake → Cost → Policy → Alternative → Peer Review → Human → Summarizer)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Deterministic hard gates: the system's real safety mechanism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Bias &amp; Fairness Gauge: what it measures, how, and its honest limitations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Human review workflow &amp; the self-improving feedback loop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Admin oversight: SLA, settings, leakage, accuracy drift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Test coverage: automated tests + 20-scenario manual test suite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What's real vs. what's mocked in this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46120"/>
            <a:ext cx="1280160" cy="508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The Problem &amp;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9C9D6"/>
                </a:solidFill>
                <a:latin typeface="Calibri"/>
              </a:rPr>
              <a:t>Why Prior Authorization needs agentic automation — and where humans must stay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C9A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8C8C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libri"/>
              </a:rPr>
              <a:t>What AgenticPA does,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54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26E"/>
                </a:solidFill>
                <a:latin typeface="Calibri"/>
              </a:rPr>
              <a:t>4/16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1. Patient uploads a PA request PDF + a plain-language question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2. Intake extracts structured clinical &amp; billing data (LLM, extraction only)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3. Cost, Policy (RAG), and Alternative-Therapy checks run — only the ones relevant to the patient's question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4. Peer-Review Auditor applies deterministic hard gates to decide: auto-resolve, or escalate to a human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5. If escalated: reviewer approves / modifies / denies / requests clarification via a split-screen portal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6. A plain-English decision letter is generated for the patient (readability-targeted)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222A30"/>
                </a:solidFill>
                <a:latin typeface="Calibri"/>
              </a:rPr>
              <a:t>•  7. Every reviewer correction feeds back into future extractions (self-improving few-shot loop)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8C8C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libri"/>
              </a:rPr>
              <a:t>Stack &amp;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54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26E"/>
                </a:solidFill>
                <a:latin typeface="Calibri"/>
              </a:rPr>
              <a:t>5/16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45920"/>
          <a:ext cx="10789920" cy="457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46720"/>
              </a:tblGrid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2A43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D45"/>
                          </a:solidFill>
                        </a:defRPr>
                      </a:pPr>
                      <a:r>
                        <a:t>FastAPI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2A43"/>
                          </a:solidFill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D45"/>
                          </a:solidFill>
                        </a:defRPr>
                      </a:pPr>
                      <a:r>
                        <a:t>LangGraph — StateGraph, PostgresSaver checkpointer, real interrupt()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2A43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D45"/>
                          </a:solidFill>
                        </a:defRPr>
                      </a:pPr>
                      <a:r>
                        <a:t>PostgreSQL (SQLAlchemy + Alembic)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2A43"/>
                          </a:solidFill>
                        </a:defRPr>
                      </a:pPr>
                      <a:r>
                        <a:t>Policy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D45"/>
                          </a:solidFill>
                        </a:defRPr>
                      </a:pPr>
                      <a:r>
                        <a:t>Qdrant — hybrid dense + sparse search over EOC/SOB chunks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2A43"/>
                          </a:solidFill>
                        </a:defRPr>
                      </a:pPr>
                      <a:r>
                        <a:t>Rate benchmarking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D45"/>
                          </a:solidFill>
                        </a:defRPr>
                      </a:pPr>
                      <a:r>
                        <a:t>CMS Physician Fee Schedule data (RVUs, GPCIs, localities)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2A43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D45"/>
                          </a:solidFill>
                        </a:defRPr>
                      </a:pPr>
                      <a:r>
                        <a:t>Pluggable: Gemini / OpenAI / Bedrock Claude, single client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F2A43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D45"/>
                          </a:solidFill>
                        </a:defRPr>
                      </a:pPr>
                      <a:r>
                        <a:t>React 19 + TypeScript + Vite + Tailwind + Zustand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8C8C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libri"/>
              </a:rPr>
              <a:t>The LangGraph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54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26E"/>
                </a:solidFill>
                <a:latin typeface="Calibri"/>
              </a:rPr>
              <a:t>6/16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463040" cy="731520"/>
          </a:xfrm>
          <a:prstGeom prst="roundRect">
            <a:avLst/>
          </a:prstGeom>
          <a:solidFill>
            <a:srgbClr val="0F2A43"/>
          </a:solidFill>
          <a:ln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Intake</a:t>
            </a:r>
            <a:br/>
            <a:r>
              <a:rPr sz="1300" b="1">
                <a:solidFill>
                  <a:srgbClr val="FFFFFF"/>
                </a:solidFill>
              </a:rPr>
              <a:t>(LLM extract)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57400" y="1920240"/>
            <a:ext cx="411480" cy="320040"/>
          </a:xfrm>
          <a:prstGeom prst="rightArrow">
            <a:avLst/>
          </a:prstGeom>
          <a:solidFill>
            <a:srgbClr val="B6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1280160"/>
            <a:ext cx="1463040" cy="731520"/>
          </a:xfrm>
          <a:prstGeom prst="roundRect">
            <a:avLst/>
          </a:prstGeom>
          <a:solidFill>
            <a:srgbClr val="1C8C8C"/>
          </a:solidFill>
          <a:ln>
            <a:solidFill>
              <a:srgbClr val="1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Cost</a:t>
            </a:r>
            <a:br/>
            <a:r>
              <a:rPr sz="13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194560"/>
            <a:ext cx="1463040" cy="731520"/>
          </a:xfrm>
          <a:prstGeom prst="roundRect">
            <a:avLst/>
          </a:prstGeom>
          <a:solidFill>
            <a:srgbClr val="1C8C8C"/>
          </a:solidFill>
          <a:ln>
            <a:solidFill>
              <a:srgbClr val="1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Policy RAG</a:t>
            </a:r>
            <a:br/>
            <a:r>
              <a:rPr sz="13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69080" y="1737360"/>
            <a:ext cx="411480" cy="320040"/>
          </a:xfrm>
          <a:prstGeom prst="rightArrow">
            <a:avLst/>
          </a:prstGeom>
          <a:solidFill>
            <a:srgbClr val="B6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737360"/>
            <a:ext cx="1554480" cy="731520"/>
          </a:xfrm>
          <a:prstGeom prst="roundRect">
            <a:avLst/>
          </a:prstGeom>
          <a:solidFill>
            <a:srgbClr val="1C8C8C"/>
          </a:solidFill>
          <a:ln>
            <a:solidFill>
              <a:srgbClr val="1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Alternative</a:t>
            </a:r>
            <a:br/>
            <a:r>
              <a:rPr sz="1300" b="1">
                <a:solidFill>
                  <a:srgbClr val="FFFFFF"/>
                </a:solidFill>
              </a:rPr>
              <a:t>Therapy (join)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72200" y="1737360"/>
            <a:ext cx="411480" cy="320040"/>
          </a:xfrm>
          <a:prstGeom prst="rightArrow">
            <a:avLst/>
          </a:prstGeom>
          <a:solidFill>
            <a:srgbClr val="B6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1737360"/>
            <a:ext cx="1737360" cy="731520"/>
          </a:xfrm>
          <a:prstGeom prst="roundRect">
            <a:avLst/>
          </a:prstGeom>
          <a:solidFill>
            <a:srgbClr val="C78A1E"/>
          </a:solidFill>
          <a:ln>
            <a:solidFill>
              <a:srgbClr val="C7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2A43"/>
                </a:solidFill>
              </a:rPr>
              <a:t>Peer-Review</a:t>
            </a:r>
            <a:br/>
            <a:r>
              <a:rPr sz="1300" b="1">
                <a:solidFill>
                  <a:srgbClr val="0F2A43"/>
                </a:solidFill>
              </a:rPr>
              <a:t>Hard Gates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58200" y="1737360"/>
            <a:ext cx="411480" cy="320040"/>
          </a:xfrm>
          <a:prstGeom prst="rightArrow">
            <a:avLst/>
          </a:prstGeom>
          <a:solidFill>
            <a:srgbClr val="B6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0" y="1234440"/>
            <a:ext cx="1554480" cy="731520"/>
          </a:xfrm>
          <a:prstGeom prst="roundRect">
            <a:avLst/>
          </a:prstGeom>
          <a:solidFill>
            <a:srgbClr val="B3361E"/>
          </a:solidFill>
          <a:ln>
            <a:solidFill>
              <a:srgbClr val="B33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Human Review</a:t>
            </a:r>
            <a:br/>
            <a:r>
              <a:rPr sz="1300" b="1">
                <a:solidFill>
                  <a:srgbClr val="FFFFFF"/>
                </a:solidFill>
              </a:rPr>
              <a:t>(interrupt)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240280"/>
            <a:ext cx="1554480" cy="731520"/>
          </a:xfrm>
          <a:prstGeom prst="roundRect">
            <a:avLst/>
          </a:prstGeom>
          <a:solidFill>
            <a:srgbClr val="0F2A43"/>
          </a:solidFill>
          <a:ln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Summarizer</a:t>
            </a:r>
            <a:br/>
            <a:r>
              <a:rPr sz="1300" b="1">
                <a:solidFill>
                  <a:srgbClr val="FFFFFF"/>
                </a:solidFill>
              </a:rPr>
              <a:t>(decision letter)</a:t>
            </a:r>
          </a:p>
        </p:txBody>
      </p:sp>
      <p:sp>
        <p:nvSpPr>
          <p:cNvPr id="19" name="Right Arrow 18"/>
          <p:cNvSpPr/>
          <p:nvPr/>
        </p:nvSpPr>
        <p:spPr>
          <a:xfrm rot="5400000">
            <a:off x="9738360" y="1965960"/>
            <a:ext cx="0" cy="274320"/>
          </a:xfrm>
          <a:prstGeom prst="rightArrow">
            <a:avLst/>
          </a:prstGeom>
          <a:solidFill>
            <a:srgbClr val="B6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Intake always runs first; Cost &amp; Policy RAG run in the same parallel superstep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Which agents run is query-driven: the patient's question is classified into relevant_agents — an irrelevant check never fires a hard gate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Peer-Review Auditor is deterministic (no LLM) and is the only thing that sets needs_human_review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Human Review is a real LangGraph interrupt(), checkpointed to Postgres via PostgresSaver — survives process restarts, resumed by case_id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Summarizer always runs last, once final_status is set, whether the case auto-resolved or was adjudicated by a reviewer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46120"/>
            <a:ext cx="1280160" cy="508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Deterministic Hard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9C9D6"/>
                </a:solidFill>
                <a:latin typeface="Calibri"/>
              </a:rPr>
              <a:t>The system's actual defense against a wrong or unsupported automated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C9A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8C8C"/>
                </a:solidFill>
                <a:latin typeface="Calibri"/>
              </a:rPr>
              <a:t>PEER-REVIEW AUDITOR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libri"/>
              </a:rPr>
              <a:t>The 4 hard gates (no LLM in the loop)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54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26E"/>
                </a:solidFill>
                <a:latin typeface="Calibri"/>
              </a:rPr>
              <a:t>8/16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45920"/>
          <a:ext cx="107899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498079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Hard Gate Flag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Fires when...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361E"/>
                          </a:solidFill>
                        </a:defRPr>
                      </a:pPr>
                      <a:r>
                        <a:t>LOW_CONFIDENCE_EXTRACTION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D45"/>
                          </a:solidFill>
                        </a:defRPr>
                      </a:pPr>
                      <a:r>
                        <a:t>extraction_confidence is missing or below threshold (default 0.85)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361E"/>
                          </a:solidFill>
                        </a:defRPr>
                      </a:pPr>
                      <a:r>
                        <a:t>FINANCIAL_EXCEPTION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D45"/>
                          </a:solidFill>
                        </a:defRPr>
                      </a:pPr>
                      <a:r>
                        <a:t>Billed amount exceeds CMS benchmark by more than 20% (only if cost check ran)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361E"/>
                          </a:solidFill>
                        </a:defRPr>
                      </a:pPr>
                      <a:r>
                        <a:t>RATE_UNAVAILABLE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D45"/>
                          </a:solidFill>
                        </a:defRPr>
                      </a:pPr>
                      <a:r>
                        <a:t>CMS benchmark rate could not be resolved at all (only if cost check ran)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361E"/>
                          </a:solidFill>
                        </a:defRPr>
                      </a:pPr>
                      <a:r>
                        <a:t>POLICY_AMBIGUOUS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D45"/>
                          </a:solidFill>
                        </a:defRPr>
                      </a:pPr>
                      <a:r>
                        <a:t>Top policy match score below 0.70, or no matches (only if policy check ran)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84632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A fired hard gate always sets needs_human_review = True — deterministically, with zero LLM involvement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The rationale-writing LLM layer can add extra escalation reasons, but can never suppress an already-fired hard gate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If the rationale LLM call fails outright, the hard gates still stand — fail-safe by construction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46120"/>
            <a:ext cx="1280160" cy="508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Bias &amp; Fairness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9C9D6"/>
                </a:solidFill>
                <a:latin typeface="Calibri"/>
              </a:rPr>
              <a:t>Detecting and disclosing outcome disparity — monitoring, not automatic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C9A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8C8C"/>
                </a:solidFill>
                <a:latin typeface="Calibri"/>
              </a:rPr>
              <a:t>BIAS &amp; FAIRNESS GAUGE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libri"/>
              </a:rPr>
              <a:t>What it measures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54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26E"/>
                </a:solidFill>
                <a:latin typeface="Calibri"/>
              </a:rPr>
              <a:t>10/16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22A30"/>
                </a:solidFill>
                <a:latin typeface="Calibri"/>
              </a:rPr>
              <a:t>•  Goal: surface whether PA approval rates differ meaningfully by patient cohort — a real observability need in healthcare adjudication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22A30"/>
                </a:solidFill>
                <a:latin typeface="Calibri"/>
              </a:rPr>
              <a:t>•  Only two demographic-adjacent fields exist anywhere in the system: patient_dob and patient_zip</a:t>
            </a:r>
          </a:p>
          <a:p>
            <a:pPr lvl="1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22A30"/>
                </a:solidFill>
                <a:latin typeface="Calibri"/>
              </a:rPr>
              <a:t>–  No race, ethnicity, sex/gender, income, or disability data is ever captured — age and coarse region are proxies, not protected attributes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22A30"/>
                </a:solidFill>
                <a:latin typeface="Calibri"/>
              </a:rPr>
              <a:t>•  Age buckets: Under 65 / 65-74 / 75-84 / 85+ (computed from DOB as of today)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22A30"/>
                </a:solidFill>
                <a:latin typeface="Calibri"/>
              </a:rPr>
              <a:t>•  Region buckets: first digit of ZIP → Northeast / South / Midwest / West (coarse, USPS-prefix based)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22A30"/>
                </a:solidFill>
                <a:latin typeface="Calibri"/>
              </a:rPr>
              <a:t>•  Cohorts with fewer than 3 finalized cases are dropped entirely — not shown with a caveat, omitted — to avoid a misleadingly precise rate from a tiny sample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>
                <a:solidFill>
                  <a:srgbClr val="222A30"/>
                </a:solidFill>
                <a:latin typeface="Calibri"/>
              </a:rPr>
              <a:t>•  Computed live from real, finalized case outcomes (Approved/Denied) — replaced a previous hardcoded DEMO-MOCKED constant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8C8C"/>
                </a:solidFill>
                <a:latin typeface="Calibri"/>
              </a:rPr>
              <a:t>BIAS &amp; FAIRNESS GAUGE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libri"/>
              </a:rPr>
              <a:t>How a case becomes a cohort 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54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26E"/>
                </a:solidFill>
                <a:latin typeface="Calibri"/>
              </a:rPr>
              <a:t>11/16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103120" cy="822960"/>
          </a:xfrm>
          <a:prstGeom prst="roundRect">
            <a:avLst/>
          </a:prstGeom>
          <a:solidFill>
            <a:srgbClr val="0F2A43"/>
          </a:solidFill>
          <a:ln>
            <a:solidFill>
              <a:srgbClr val="0F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Finalized case:</a:t>
            </a:r>
            <a:br/>
            <a:r>
              <a:rPr sz="1200" b="1">
                <a:solidFill>
                  <a:srgbClr val="FFFFFF"/>
                </a:solidFill>
              </a:rPr>
              <a:t>patient_dob,</a:t>
            </a:r>
            <a:br/>
            <a:r>
              <a:rPr sz="1200" b="1">
                <a:solidFill>
                  <a:srgbClr val="FFFFFF"/>
                </a:solidFill>
              </a:rPr>
              <a:t>patient_zip,</a:t>
            </a:r>
            <a:br/>
            <a:r>
              <a:rPr sz="1200" b="1">
                <a:solidFill>
                  <a:srgbClr val="FFFFFF"/>
                </a:solidFill>
              </a:rPr>
              <a:t>outcome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34640" y="2103120"/>
            <a:ext cx="457200" cy="320040"/>
          </a:xfrm>
          <a:prstGeom prst="rightArrow">
            <a:avLst/>
          </a:prstGeom>
          <a:solidFill>
            <a:srgbClr val="B6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011680" cy="731520"/>
          </a:xfrm>
          <a:prstGeom prst="roundRect">
            <a:avLst/>
          </a:prstGeom>
          <a:solidFill>
            <a:srgbClr val="1C8C8C"/>
          </a:solidFill>
          <a:ln>
            <a:solidFill>
              <a:srgbClr val="1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bucket_age()</a:t>
            </a:r>
            <a:br/>
            <a:r>
              <a:rPr sz="1300" b="1">
                <a:solidFill>
                  <a:srgbClr val="FFFFFF"/>
                </a:solidFill>
              </a:rPr>
              <a:t>→ age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286000"/>
            <a:ext cx="2011680" cy="731520"/>
          </a:xfrm>
          <a:prstGeom prst="roundRect">
            <a:avLst/>
          </a:prstGeom>
          <a:solidFill>
            <a:srgbClr val="1C8C8C"/>
          </a:solidFill>
          <a:ln>
            <a:solidFill>
              <a:srgbClr val="1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bucket_region()</a:t>
            </a:r>
            <a:br/>
            <a:r>
              <a:rPr sz="1300" b="1">
                <a:solidFill>
                  <a:srgbClr val="FFFFFF"/>
                </a:solidFill>
              </a:rPr>
              <a:t>→ region cohort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86400" y="1828800"/>
            <a:ext cx="457200" cy="320040"/>
          </a:xfrm>
          <a:prstGeom prst="rightArrow">
            <a:avLst/>
          </a:prstGeom>
          <a:solidFill>
            <a:srgbClr val="B6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1828800"/>
            <a:ext cx="2103120" cy="822960"/>
          </a:xfrm>
          <a:prstGeom prst="roundRect">
            <a:avLst/>
          </a:prstGeom>
          <a:solidFill>
            <a:srgbClr val="C78A1E"/>
          </a:solidFill>
          <a:ln>
            <a:solidFill>
              <a:srgbClr val="C7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F2A43"/>
                </a:solidFill>
              </a:rPr>
              <a:t>Group outcomes</a:t>
            </a:r>
            <a:br/>
            <a:r>
              <a:rPr sz="1300" b="1">
                <a:solidFill>
                  <a:srgbClr val="0F2A43"/>
                </a:solidFill>
              </a:rPr>
              <a:t>by cohort label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229600" y="1828800"/>
            <a:ext cx="457200" cy="320040"/>
          </a:xfrm>
          <a:prstGeom prst="rightArrow">
            <a:avLst/>
          </a:prstGeom>
          <a:solidFill>
            <a:srgbClr val="B6C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0" y="1828800"/>
            <a:ext cx="2286000" cy="822960"/>
          </a:xfrm>
          <a:prstGeom prst="roundRect">
            <a:avLst/>
          </a:prstGeom>
          <a:solidFill>
            <a:srgbClr val="B3361E"/>
          </a:solidFill>
          <a:ln>
            <a:solidFill>
              <a:srgbClr val="B33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Drop cohorts</a:t>
            </a:r>
            <a:br/>
            <a:r>
              <a:rPr sz="1300" b="1">
                <a:solidFill>
                  <a:srgbClr val="FFFFFF"/>
                </a:solidFill>
              </a:rPr>
              <a:t>&lt; 3 cases;</a:t>
            </a:r>
            <a:br/>
            <a:r>
              <a:rPr sz="1300" b="1">
                <a:solidFill>
                  <a:srgbClr val="FFFFFF"/>
                </a:solidFill>
              </a:rPr>
              <a:t>compute approval_rate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One case can contribute to BOTH an age cohort and a region cohort — these are two independent 1-D breakdowns, not a cross-tab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approval_rate = round(approved_count / total_count, 4), sorted alphabetically by cohort label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Served via GET /api/v1/admin/metrics as fairness_cohorts + fairness_finalized_total (the latter distinguishes 'no data yet' from 'no cohort large enough')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Rendered on the Admin Portal as a Recharts bar chart with an explicit caption disclosing the fields used and the ≥3-case threshold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8C8C"/>
                </a:solidFill>
                <a:latin typeface="Calibri"/>
              </a:rPr>
              <a:t>BIAS &amp; FAIRNESS GAUGE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libri"/>
              </a:rPr>
              <a:t>Honest scope: monitoring, not mitigation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54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26E"/>
                </a:solidFill>
                <a:latin typeface="Calibri"/>
              </a:rPr>
              <a:t>12/16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0F2A43"/>
                </a:solidFill>
                <a:latin typeface="Calibri"/>
              </a:rPr>
              <a:t>This is a disclosure tool for human compliance review — it does not change any individual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fairness.py has zero references anywhere in graph.py, supervisor.py, or peer_review_agent.py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No case is ever routed, reweighted, or blocked because of its cohort's aggregate approval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libri"/>
              </a:rPr>
              <a:t>Known limitations (stated proactively):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ZIP-derived region is a widely-criticized proxy for race/ethnicity in fairness literature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No statistical significance testing — approval_rate is a raw proportion, MIN_COHORT_SIZE=3 is a noise floor, not a confidence guarantee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No intersectional (age × region) analysis — only two independent 1-D breakdowns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Small demo datasets will drop most cohorts below the size threshold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46120"/>
            <a:ext cx="1280160" cy="508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Test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9C9D6"/>
                </a:solidFill>
                <a:latin typeface="Calibri"/>
              </a:rPr>
              <a:t>Automated unit tests + a 20-scenario manual test suite covering every decision branch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8C9A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8C8C"/>
                </a:solidFill>
                <a:latin typeface="Calibri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libri"/>
              </a:rPr>
              <a:t>Automated test coverage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54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26E"/>
                </a:solidFill>
                <a:latin typeface="Calibri"/>
              </a:rPr>
              <a:t>14/16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45920"/>
          <a:ext cx="1078991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498079"/>
              </a:tblGrid>
              <a:tr h="60089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2A43"/>
                          </a:solidFill>
                        </a:defRPr>
                      </a:pPr>
                      <a:r>
                        <a:t>test_fairness.py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D45"/>
                          </a:solidFill>
                        </a:defRPr>
                      </a:pPr>
                      <a:r>
                        <a:t>Age/region bucketing, small-sample cohort dropping, approval-rate math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2A43"/>
                          </a:solidFill>
                        </a:defRPr>
                      </a:pPr>
                      <a:r>
                        <a:t>test_supervisor.py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D45"/>
                          </a:solidFill>
                        </a:defRPr>
                      </a:pPr>
                      <a:r>
                        <a:t>SLA deadline computation, expedite-window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2A43"/>
                          </a:solidFill>
                        </a:defRPr>
                      </a:pPr>
                      <a:r>
                        <a:t>test_peer_review_agent.py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D45"/>
                          </a:solidFill>
                        </a:defRPr>
                      </a:pPr>
                      <a:r>
                        <a:t>All 4 hard gates, including query-relevance gating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2A43"/>
                          </a:solidFill>
                        </a:defRPr>
                      </a:pPr>
                      <a:r>
                        <a:t>test_case_number.py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D45"/>
                          </a:solidFill>
                        </a:defRPr>
                      </a:pPr>
                      <a:r>
                        <a:t>Human-readable case number formatting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2A43"/>
                          </a:solidFill>
                        </a:defRPr>
                      </a:pPr>
                      <a:r>
                        <a:t>ReviewForm.test.tsx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D45"/>
                          </a:solidFill>
                        </a:defRPr>
                      </a:pPr>
                      <a:r>
                        <a:t>ConfidenceBadge color thresholds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2A43"/>
                          </a:solidFill>
                        </a:defRPr>
                      </a:pPr>
                      <a:r>
                        <a:t>SlaCountdown.test.tsx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D45"/>
                          </a:solidFill>
                        </a:defRPr>
                      </a:pPr>
                      <a:r>
                        <a:t>Countdown display branches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2A43"/>
                          </a:solidFill>
                        </a:defRPr>
                      </a:pPr>
                      <a:r>
                        <a:t>traceSummary.test.ts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D45"/>
                          </a:solidFill>
                        </a:defRPr>
                      </a:pPr>
                      <a:r>
                        <a:t>Trace-entry summarization (intake/cost/peer-review)</a:t>
                      </a: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8C8C"/>
                </a:solidFill>
                <a:latin typeface="Calibri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libri"/>
              </a:rPr>
              <a:t>20-scenario manual test suite (documents/test_cases/)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54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26E"/>
                </a:solidFill>
                <a:latin typeface="Calibri"/>
              </a:rPr>
              <a:t>15/16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Clean auto-approve, low-confidence handwritten intake, total extraction failure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Financial overcharge (&gt;20% variance), rate-unavailable (unknown ZIP)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Policy-ambiguous obscure service, step-therapy biologic case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Combined worst-case (all 4 hard gates firing simultaneously)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Alternative therapy mapper (knee arthroplasty → conservative injection)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Clearly-excluded service (manual reviewer Deny + justification path)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Clarify loop (missing info → reviewer requests clarification → provider responds)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6 fairness-cohort scenarios spanning all 4 age buckets and 2 regions, plus a missing-DOB/ZIP edge case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Multi-code stress test (6 ICD-10/CPT codes on one document)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Non-document API tests: upload validation, rate limits, assignment conflicts, admin-settings effects, fairness API wiring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8C8C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libri"/>
              </a:rPr>
              <a:t>What's real vs. what's mocked in this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25400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626E"/>
                </a:solidFill>
                <a:latin typeface="Calibri"/>
              </a:rPr>
              <a:t>16/16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8C8C"/>
                </a:solidFill>
                <a:latin typeface="Calibri"/>
              </a:rPr>
              <a:t>DEMO-REAL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CMS cost benchmarking (real RVU × GPCI math)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Policy retrieval (real hybrid Qdrant search)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All 4 peer-review hard gates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Bias &amp; Fairness cohort computation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SLA/expedite logic, admin settings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Feedback loop (few-shot corrections)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LangGraph interrupt/resume (real, checkpointed)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3361E"/>
                </a:solidFill>
                <a:latin typeface="Calibri"/>
              </a:rPr>
              <a:t>DEMO-MOCKED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116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Alternative Therapy Mapper's lookup table (3 hardcoded entries; pricing of the alternative is still real)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FHIR stub (illustrative structure, not schema-validated)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>
                <a:solidFill>
                  <a:srgbClr val="222A30"/>
                </a:solidFill>
                <a:latin typeface="Calibri"/>
              </a:rPr>
              <a:t>•  Authentication (3 hardcoded demo identities, no real auth)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